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6"/>
  </p:notesMasterIdLst>
  <p:sldIdLst>
    <p:sldId id="256" r:id="rId2"/>
    <p:sldId id="719" r:id="rId3"/>
    <p:sldId id="841" r:id="rId4"/>
    <p:sldId id="842" r:id="rId5"/>
    <p:sldId id="843" r:id="rId6"/>
    <p:sldId id="844" r:id="rId7"/>
    <p:sldId id="845" r:id="rId8"/>
    <p:sldId id="846" r:id="rId9"/>
    <p:sldId id="847" r:id="rId10"/>
    <p:sldId id="849" r:id="rId11"/>
    <p:sldId id="848" r:id="rId12"/>
    <p:sldId id="851" r:id="rId13"/>
    <p:sldId id="852" r:id="rId14"/>
    <p:sldId id="853" r:id="rId15"/>
    <p:sldId id="854" r:id="rId16"/>
    <p:sldId id="850" r:id="rId17"/>
    <p:sldId id="856" r:id="rId18"/>
    <p:sldId id="857" r:id="rId19"/>
    <p:sldId id="855" r:id="rId20"/>
    <p:sldId id="858" r:id="rId21"/>
    <p:sldId id="859" r:id="rId22"/>
    <p:sldId id="860" r:id="rId23"/>
    <p:sldId id="861" r:id="rId24"/>
    <p:sldId id="864" r:id="rId25"/>
    <p:sldId id="865" r:id="rId26"/>
    <p:sldId id="863" r:id="rId27"/>
    <p:sldId id="862" r:id="rId28"/>
    <p:sldId id="867" r:id="rId29"/>
    <p:sldId id="866" r:id="rId30"/>
    <p:sldId id="868" r:id="rId31"/>
    <p:sldId id="869" r:id="rId32"/>
    <p:sldId id="871" r:id="rId33"/>
    <p:sldId id="925" r:id="rId34"/>
    <p:sldId id="872" r:id="rId35"/>
    <p:sldId id="873" r:id="rId36"/>
    <p:sldId id="926" r:id="rId37"/>
    <p:sldId id="870" r:id="rId38"/>
    <p:sldId id="874" r:id="rId39"/>
    <p:sldId id="877" r:id="rId40"/>
    <p:sldId id="876" r:id="rId41"/>
    <p:sldId id="878" r:id="rId42"/>
    <p:sldId id="879" r:id="rId43"/>
    <p:sldId id="880" r:id="rId44"/>
    <p:sldId id="881" r:id="rId45"/>
    <p:sldId id="875" r:id="rId46"/>
    <p:sldId id="883" r:id="rId47"/>
    <p:sldId id="884" r:id="rId48"/>
    <p:sldId id="885" r:id="rId49"/>
    <p:sldId id="886" r:id="rId50"/>
    <p:sldId id="887" r:id="rId51"/>
    <p:sldId id="888" r:id="rId52"/>
    <p:sldId id="882" r:id="rId53"/>
    <p:sldId id="890" r:id="rId54"/>
    <p:sldId id="891" r:id="rId5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DFF"/>
    <a:srgbClr val="F506D3"/>
    <a:srgbClr val="6600CC"/>
    <a:srgbClr val="F4EFEC"/>
    <a:srgbClr val="E3E3E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5" autoAdjust="0"/>
    <p:restoredTop sz="82925" autoAdjust="0"/>
  </p:normalViewPr>
  <p:slideViewPr>
    <p:cSldViewPr>
      <p:cViewPr varScale="1">
        <p:scale>
          <a:sx n="105" d="100"/>
          <a:sy n="105" d="100"/>
        </p:scale>
        <p:origin x="25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9156F-BC3C-4EE3-97A7-1A2394745947}" type="datetimeFigureOut">
              <a:rPr lang="zh-CN" altLang="en-US" smtClean="0"/>
              <a:pPr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0AE01-5F7D-4B50-B5CD-C9FCDB1B4A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34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40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848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859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823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65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>
                <a:effectLst/>
              </a:rPr>
              <a:t>PN</a:t>
            </a:r>
            <a:r>
              <a:rPr lang="en" altLang="zh-CN" dirty="0"/>
              <a:t>​(</a:t>
            </a:r>
            <a:r>
              <a:rPr lang="en" altLang="zh-CN" dirty="0" err="1"/>
              <a:t>e∣x,x</a:t>
            </a:r>
            <a:r>
              <a:rPr lang="en" altLang="zh-CN" dirty="0">
                <a:effectLst/>
              </a:rPr>
              <a:t>′</a:t>
            </a:r>
            <a:r>
              <a:rPr lang="en" altLang="zh-CN" dirty="0"/>
              <a:t>)</a:t>
            </a:r>
            <a:r>
              <a:rPr lang="zh-CN" altLang="en-US" dirty="0"/>
              <a:t>为什么要取期望？因为实际使用中，你不知道下一个进来的样本 </a:t>
            </a:r>
            <a:r>
              <a:rPr lang="en" altLang="zh-CN" dirty="0"/>
              <a:t>x\</a:t>
            </a:r>
            <a:r>
              <a:rPr lang="en" altLang="zh-CN" dirty="0" err="1"/>
              <a:t>mathbf</a:t>
            </a:r>
            <a:r>
              <a:rPr lang="en" altLang="zh-CN" dirty="0"/>
              <a:t>{x} x </a:t>
            </a:r>
            <a:r>
              <a:rPr lang="zh-CN" altLang="en-US" dirty="0"/>
              <a:t>会落在哪里，也不知道训练集中哪个点 </a:t>
            </a:r>
            <a:r>
              <a:rPr lang="en" altLang="zh-CN" dirty="0"/>
              <a:t>x′\</a:t>
            </a:r>
            <a:r>
              <a:rPr lang="en" altLang="zh-CN" dirty="0" err="1"/>
              <a:t>mathbf</a:t>
            </a:r>
            <a:r>
              <a:rPr lang="en" altLang="zh-CN" dirty="0"/>
              <a:t>{x}' x</a:t>
            </a:r>
            <a:r>
              <a:rPr lang="en" altLang="zh-CN" dirty="0">
                <a:effectLst/>
              </a:rPr>
              <a:t>′</a:t>
            </a:r>
            <a:r>
              <a:rPr lang="en" altLang="zh-CN" dirty="0"/>
              <a:t> </a:t>
            </a:r>
            <a:r>
              <a:rPr lang="zh-CN" altLang="en-US" dirty="0"/>
              <a:t>会成为它的最近邻</a:t>
            </a:r>
            <a:r>
              <a:rPr lang="en-US" altLang="zh-CN" dirty="0"/>
              <a:t>——</a:t>
            </a:r>
            <a:r>
              <a:rPr lang="zh-CN" altLang="en-US" dirty="0"/>
              <a:t>这两者都是随机的。所以要对所有可能的 </a:t>
            </a:r>
            <a:r>
              <a:rPr lang="en-US" altLang="zh-CN" dirty="0"/>
              <a:t>(</a:t>
            </a:r>
            <a:r>
              <a:rPr lang="en" altLang="zh-CN" dirty="0" err="1"/>
              <a:t>x,x</a:t>
            </a:r>
            <a:r>
              <a:rPr lang="en" altLang="zh-CN" dirty="0"/>
              <a:t>′)(\</a:t>
            </a:r>
            <a:r>
              <a:rPr lang="en" altLang="zh-CN" dirty="0" err="1"/>
              <a:t>mathbf</a:t>
            </a:r>
            <a:r>
              <a:rPr lang="en" altLang="zh-CN" dirty="0"/>
              <a:t>{x}, \</a:t>
            </a:r>
            <a:r>
              <a:rPr lang="en" altLang="zh-CN" dirty="0" err="1"/>
              <a:t>mathbf</a:t>
            </a:r>
            <a:r>
              <a:rPr lang="en" altLang="zh-CN" dirty="0"/>
              <a:t>{x}') (</a:t>
            </a:r>
            <a:r>
              <a:rPr lang="en" altLang="zh-CN" dirty="0" err="1"/>
              <a:t>x,x</a:t>
            </a:r>
            <a:r>
              <a:rPr lang="en" altLang="zh-CN" dirty="0">
                <a:effectLst/>
              </a:rPr>
              <a:t>′</a:t>
            </a:r>
            <a:r>
              <a:rPr lang="en" altLang="zh-CN" dirty="0"/>
              <a:t>) </a:t>
            </a:r>
            <a:r>
              <a:rPr lang="zh-CN" altLang="en-US" dirty="0"/>
              <a:t>组合，按它们出现的概率加权求平均，才能得到这个分类器</a:t>
            </a:r>
            <a:r>
              <a:rPr lang="en-US" altLang="zh-CN" dirty="0"/>
              <a:t>"</a:t>
            </a:r>
            <a:r>
              <a:rPr lang="zh-CN" altLang="en-US" dirty="0"/>
              <a:t>整体表现如何</a:t>
            </a:r>
            <a:r>
              <a:rPr lang="en-US" altLang="zh-CN" dirty="0"/>
              <a:t>"</a:t>
            </a:r>
            <a:r>
              <a:rPr lang="zh-CN" altLang="en-US" dirty="0"/>
              <a:t>的度量。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49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864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69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17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075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451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339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088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62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858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三层数结构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每个节点是⼀个样本子集</a:t>
            </a:r>
            <a:endParaRPr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br>
              <a:rPr lang="en-US" altLang="zh-CN" dirty="0"/>
            </a:br>
            <a:r>
              <a:rPr lang="zh-CN" altLang="en-US" dirty="0"/>
              <a:t>根节点表示全部训练样本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550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𝑀</m:t>
                        </m:r>
                      </m:e>
                      <m:sub>
                        <m:r>
                          <a:rPr lang="en-US" altLang="zh-CN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dirty="0"/>
                  <a:t> 相当于样本集合的中心，</a:t>
                </a:r>
                <a:r>
                  <a:rPr lang="zh-CN" altLang="en-US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相当于半径，整个样本子集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dirty="0"/>
                  <a:t> 出现在以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𝑀</m:t>
                        </m:r>
                      </m:e>
                      <m:sub>
                        <m:r>
                          <a:rPr lang="en-US" altLang="zh-CN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dirty="0"/>
                  <a:t>  为中心，</a:t>
                </a:r>
                <a:r>
                  <a:rPr lang="zh-CN" altLang="en-US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为半径的超球面内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b="0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𝑀_</a:t>
                </a:r>
                <a:r>
                  <a:rPr lang="en-US" altLang="zh-CN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𝑝</a:t>
                </a:r>
                <a:r>
                  <a:rPr lang="zh-CN" altLang="en-US" dirty="0"/>
                  <a:t> 相当于样本集合的中心，</a:t>
                </a:r>
                <a:r>
                  <a:rPr lang="zh-CN" altLang="en-US" baseline="0" dirty="0"/>
                  <a:t> </a:t>
                </a:r>
                <a:r>
                  <a:rPr lang="zh-CN" altLang="en-US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𝑟</a:t>
                </a:r>
                <a:r>
                  <a:rPr lang="zh-CN" altLang="zh-CN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_</a:t>
                </a:r>
                <a:r>
                  <a:rPr lang="zh-CN" altLang="en-US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𝑝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相当于半径，整个样本子集 </a:t>
                </a:r>
                <a:r>
                  <a:rPr lang="zh-CN" altLang="en-US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𝒳</a:t>
                </a:r>
                <a:r>
                  <a:rPr lang="en-US" altLang="zh-CN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_𝑝</a:t>
                </a:r>
                <a:r>
                  <a:rPr lang="zh-CN" altLang="en-US" dirty="0"/>
                  <a:t> 出现在以 </a:t>
                </a:r>
                <a:r>
                  <a:rPr lang="en-US" altLang="zh-CN" b="0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𝑀_</a:t>
                </a:r>
                <a:r>
                  <a:rPr lang="en-US" altLang="zh-CN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𝑝</a:t>
                </a:r>
                <a:r>
                  <a:rPr lang="zh-CN" altLang="en-US" dirty="0"/>
                  <a:t>  为中心，</a:t>
                </a:r>
                <a:r>
                  <a:rPr lang="zh-CN" altLang="en-US" baseline="0" dirty="0"/>
                  <a:t> </a:t>
                </a:r>
                <a:r>
                  <a:rPr lang="zh-CN" altLang="en-US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𝑟</a:t>
                </a:r>
                <a:r>
                  <a:rPr lang="zh-CN" altLang="zh-CN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_</a:t>
                </a:r>
                <a:r>
                  <a:rPr lang="zh-CN" altLang="en-US" i="0">
                    <a:solidFill>
                      <a:srgbClr val="2D6DFF"/>
                    </a:solidFill>
                    <a:latin typeface="Cambria Math" panose="02040503050406030204" pitchFamily="18" charset="0"/>
                    <a:ea typeface="PingFang SC" panose="020B0400000000000000" pitchFamily="34" charset="-122"/>
                  </a:rPr>
                  <a:t>𝑝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为半径的超球面内</a:t>
                </a:r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633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可以退出幻灯片 局部放大讲下这幅图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三叉树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一共 </a:t>
            </a:r>
            <a:r>
              <a:rPr lang="en-US" altLang="zh-CN" dirty="0"/>
              <a:t>1000</a:t>
            </a:r>
            <a:r>
              <a:rPr lang="zh-CN" altLang="en-US" dirty="0"/>
              <a:t> 个样本，然后划分成三个样本子集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828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873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可以出填空题！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513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308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819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4918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246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848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8881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3128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1919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9297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6934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5992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9467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9238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00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7576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堆通常是一个可以被看做一棵完全二叉树的数组对象。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堆满足下列性质：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1.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堆中某个节点的值总是不大于或不小于其父节点的值</a:t>
            </a:r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堆总是一棵完全二叉树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6682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980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2942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7635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7934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4446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0716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5152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584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0089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162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1253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2362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1820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8383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6206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AE01-5F7D-4B50-B5CD-C9FCDB1B4AA0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311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140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140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C4A3DC0-A904-4419-B8A8-4D401EF890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E6ED02-A8FA-4E43-ACE6-0C292C82BE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E2604-2B1C-45BB-8F96-0A07C8F31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ED961-85AF-4C60-95BF-3E62F0F810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3F869-DF36-4E30-BDF9-699D6BAD41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7553C-B352-433F-BB8D-0071DC874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4EBE8-6941-4C7E-A3A8-8F28D82CA3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34452-41C1-4049-89A6-D356EF3869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9D343-8321-4BFE-877A-6FA838384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9D745-8FD4-4B37-A3EB-E7C6951ACE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DB9F10-F089-4F5A-8B60-B03986D909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34642-0097-4FCA-BE6A-00E838BE4E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B401E-E18E-476F-8821-42493ED315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>
              <a:latin typeface="Tahoma" pitchFamily="34" charset="0"/>
            </a:endParaRPr>
          </a:p>
        </p:txBody>
      </p:sp>
      <p:sp>
        <p:nvSpPr>
          <p:cNvPr id="2129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>
              <a:latin typeface="Tahoma" pitchFamily="34" charset="0"/>
            </a:endParaRPr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>
              <a:latin typeface="Tahoma" pitchFamily="34" charset="0"/>
            </a:endParaRPr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>
              <a:latin typeface="Tahoma" pitchFamily="34" charset="0"/>
            </a:endParaRPr>
          </a:p>
        </p:txBody>
      </p:sp>
      <p:sp>
        <p:nvSpPr>
          <p:cNvPr id="2129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>
              <a:latin typeface="Tahoma" pitchFamily="34" charset="0"/>
            </a:endParaRPr>
          </a:p>
        </p:txBody>
      </p:sp>
      <p:sp>
        <p:nvSpPr>
          <p:cNvPr id="2129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>
              <a:latin typeface="Tahoma" pitchFamily="34" charset="0"/>
            </a:endParaRPr>
          </a:p>
        </p:txBody>
      </p:sp>
      <p:sp>
        <p:nvSpPr>
          <p:cNvPr id="2130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>
              <a:latin typeface="Tahoma" pitchFamily="34" charset="0"/>
            </a:endParaRP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30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30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30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05B3EDDF-2F70-4F40-9771-0C436614EE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5.sv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066800"/>
            <a:ext cx="8001000" cy="2071688"/>
          </a:xfrm>
        </p:spPr>
        <p:txBody>
          <a:bodyPr/>
          <a:lstStyle/>
          <a:p>
            <a:pPr algn="ctr" eaLnBrk="1" hangingPunct="1"/>
            <a:r>
              <a:rPr lang="zh-CN" altLang="en-US" sz="6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第八章 非参数学习机器与集成学习</a:t>
            </a:r>
            <a:endParaRPr lang="zh-CN" altLang="en-US" sz="48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 	</a:t>
            </a:r>
            <a:endParaRPr lang="zh-CN" alt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2017713"/>
                <a:ext cx="85334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基本思想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对于⼀个新样本，把它逐⼀与已知样本⽐较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找出距离新样本最近的已知样本，以该样本的类别作为新样本的类别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形式化定义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已知样本集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 smtClean="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,⋯,</m:t>
                        </m:r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PingFang SC" panose="020B0400000000000000" pitchFamily="34" charset="-122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，共有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𝑐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个类别，即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=1, 2, …,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𝑐</m:t>
                    </m:r>
                  </m:oMath>
                </a14:m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定义两个样本间的距离度量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𝛿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，例如欧式距离等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对于未知样本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，计算样本集中与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距离最近的样本，设为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对应类别为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𝜔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𝛿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min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𝑗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=1,⋯,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𝑁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 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𝛿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将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决策为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𝜔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类</a:t>
                </a:r>
                <a:endParaRPr lang="zh-CN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zh-CN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2017713"/>
                <a:ext cx="8533452" cy="4840287"/>
              </a:xfrm>
              <a:blipFill>
                <a:blip r:embed="rId3"/>
                <a:stretch>
                  <a:fillRect l="-446" t="-1309" r="-595" b="-4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8.2.1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最近邻法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89571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2017713"/>
                <a:ext cx="39614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判别函数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类的判别函数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决策规则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比较各类判别函数的大小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2017713"/>
                <a:ext cx="3961452" cy="4840287"/>
              </a:xfrm>
              <a:blipFill>
                <a:blip r:embed="rId3"/>
                <a:stretch>
                  <a:fillRect l="-962" t="-1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8.2.1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最近邻法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A3FFC8-045B-4F19-5F3B-52FB1AD4AA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" t="6382" r="1369" b="1418"/>
          <a:stretch/>
        </p:blipFill>
        <p:spPr>
          <a:xfrm>
            <a:off x="4326165" y="2228056"/>
            <a:ext cx="4827563" cy="4419600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7F3AE346-705D-0430-3E30-823EBA2CBB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162" y="3124200"/>
            <a:ext cx="4034118" cy="4572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873D05-16F6-5F73-3A03-AB3AA6CB7C6B}"/>
              </a:ext>
            </a:extLst>
          </p:cNvPr>
          <p:cNvSpPr txBox="1"/>
          <p:nvPr/>
        </p:nvSpPr>
        <p:spPr>
          <a:xfrm>
            <a:off x="3561237" y="3429000"/>
            <a:ext cx="1316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(8-1)</a:t>
            </a:r>
            <a:endParaRPr lang="zh-CN" altLang="en-US" dirty="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9C073967-D373-50BA-6345-BAE0C1C12B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5274" y="5145732"/>
            <a:ext cx="4171950" cy="4572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A436377-0EA7-F65C-F84E-296625F0142A}"/>
              </a:ext>
            </a:extLst>
          </p:cNvPr>
          <p:cNvSpPr txBox="1"/>
          <p:nvPr/>
        </p:nvSpPr>
        <p:spPr>
          <a:xfrm>
            <a:off x="3561236" y="5528662"/>
            <a:ext cx="1316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(8-2)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796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20177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例题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8.2.1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最近邻法</a:t>
            </a:r>
            <a:endParaRPr lang="zh-CN" altLang="en-US" b="1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873E5C-B0AF-AF71-8124-484CE586D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47" y="1858389"/>
            <a:ext cx="8354906" cy="499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0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20177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例题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8.2.1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最近邻法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68879F-9980-679F-B013-6DF1B10B8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1793233"/>
            <a:ext cx="6781800" cy="506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88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20177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例题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8.2.1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最近邻法</a:t>
            </a:r>
            <a:endParaRPr lang="zh-CN" altLang="en-US" b="1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08466F-D397-D5FE-ABF7-8E9E88F6E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98" y="1832332"/>
            <a:ext cx="5889151" cy="502566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C7B2220-E857-1B55-F61F-6EB0B5917355}"/>
              </a:ext>
            </a:extLst>
          </p:cNvPr>
          <p:cNvSpPr txBox="1"/>
          <p:nvPr/>
        </p:nvSpPr>
        <p:spPr>
          <a:xfrm>
            <a:off x="3243" y="3276600"/>
            <a:ext cx="38505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506D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例题说明</a:t>
            </a:r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：在已知样本集和未知样本均相同的前提下，选择不同的距离度量方法，所得到的决策结果不同</a:t>
            </a:r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467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平均错误率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将 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N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个样本下的近邻法的平均错误率记作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𝑁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样本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  <m:r>
                      <a:rPr lang="zh-CN" altLang="en-US" sz="2400" b="0" i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的最近邻为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  <a:blipFill>
                <a:blip r:embed="rId3"/>
                <a:stretch>
                  <a:fillRect l="-458" t="-1309" r="-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8.2.1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最近邻法</a:t>
            </a:r>
            <a:endParaRPr lang="zh-CN" altLang="en-US" b="1" kern="0" dirty="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DFF996FE-E8CC-63CF-FF89-9B5794FC18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3466289"/>
            <a:ext cx="6909602" cy="220007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EF0278A-FB5E-0E6F-B67D-3940FB9782D5}"/>
              </a:ext>
            </a:extLst>
          </p:cNvPr>
          <p:cNvSpPr txBox="1"/>
          <p:nvPr/>
        </p:nvSpPr>
        <p:spPr>
          <a:xfrm>
            <a:off x="-100798" y="3838364"/>
            <a:ext cx="198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将期望转成二重积分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37E509-D8A2-DB6D-A0CC-A8240A2D4A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968113"/>
            <a:ext cx="571500" cy="5715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C4A1D09-3FF1-8DE4-6EC6-72E227E636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334" y="4873985"/>
            <a:ext cx="571500" cy="57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482EE28-48DC-1133-DA01-270D7A974B9A}"/>
                  </a:ext>
                </a:extLst>
              </p:cNvPr>
              <p:cNvSpPr txBox="1"/>
              <p:nvPr/>
            </p:nvSpPr>
            <p:spPr>
              <a:xfrm>
                <a:off x="-3916" y="4850794"/>
                <a:ext cx="2286000" cy="1215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𝑝</m:t>
                      </m:r>
                      <m:d>
                        <m:dPr>
                          <m:ctrlPr>
                            <a:rPr lang="zh-CN" altLang="zh-CN" sz="2200" i="1">
                              <a:latin typeface="Cambria Math" panose="02040503050406030204" pitchFamily="18" charset="0"/>
                              <a:ea typeface="PingFang SC" panose="020B0400000000000000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  <a:ea typeface="PingFang SC" panose="020B0400000000000000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PingFang SC" panose="020B0400000000000000" pitchFamily="34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PingFang SC" panose="020B0400000000000000" pitchFamily="34" charset="-122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200">
                              <a:latin typeface="Cambria Math" panose="02040503050406030204" pitchFamily="18" charset="0"/>
                              <a:ea typeface="PingFang SC" panose="020B0400000000000000" pitchFamily="34" charset="-122"/>
                            </a:rPr>
                            <m:t>,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PingFang SC" panose="020B0400000000000000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=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𝑝</m:t>
                      </m:r>
                      <m:d>
                        <m:dPr>
                          <m:ctrlPr>
                            <a:rPr lang="zh-CN" altLang="zh-CN" sz="2200" i="1">
                              <a:latin typeface="Cambria Math" panose="02040503050406030204" pitchFamily="18" charset="0"/>
                              <a:ea typeface="PingFang SC" panose="020B0400000000000000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  <a:ea typeface="PingFang SC" panose="020B0400000000000000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PingFang SC" panose="020B0400000000000000" pitchFamily="34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PingFang SC" panose="020B0400000000000000" pitchFamily="34" charset="-122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200">
                              <a:latin typeface="Cambria Math" panose="02040503050406030204" pitchFamily="18" charset="0"/>
                              <a:ea typeface="PingFang SC" panose="020B0400000000000000" pitchFamily="34" charset="-122"/>
                            </a:rPr>
                            <m:t>∣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PingFang SC" panose="020B0400000000000000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⋅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𝑝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(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𝑥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PingFang SC" panose="020B0400000000000000" pitchFamily="34" charset="-122"/>
                        </a:rPr>
                        <m:t>)</m:t>
                      </m:r>
                    </m:oMath>
                  </m:oMathPara>
                </a14:m>
                <a:endParaRPr lang="zh-CN" altLang="zh-CN" sz="22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algn="ctr"/>
                <a:endParaRPr lang="zh-CN" altLang="en-US" sz="22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482EE28-48DC-1133-DA01-270D7A97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16" y="4850794"/>
                <a:ext cx="2286000" cy="1215204"/>
              </a:xfrm>
              <a:prstGeom prst="rect">
                <a:avLst/>
              </a:prstGeom>
              <a:blipFill>
                <a:blip r:embed="rId7"/>
                <a:stretch>
                  <a:fillRect l="-16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44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渐进错误率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当样本数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𝑁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→∞</m:t>
                    </m:r>
                  </m:oMath>
                </a14:m>
                <a:r>
                  <a:rPr lang="zh-CN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𝑃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𝑁</m:t>
                        </m:r>
                      </m:sub>
                    </m:sSub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(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𝑒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)</m:t>
                    </m:r>
                  </m:oMath>
                </a14:m>
                <a:r>
                  <a:rPr lang="zh-CN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的极限,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𝑃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</m:t>
                    </m:r>
                    <m:limLow>
                      <m:limLow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lim</m:t>
                        </m:r>
                      </m:e>
                      <m:lim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𝑁</m:t>
                        </m:r>
                        <m:r>
                          <a:rPr lang="zh-CN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→∞</m:t>
                        </m:r>
                      </m:lim>
                    </m:limLow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 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𝑃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𝑁</m:t>
                        </m:r>
                      </m:sub>
                    </m:sSub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(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𝑒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存在如下关系：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sz="1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𝑃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为贝叶斯错误率，即理论上最优的错误率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c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为类别数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sz="11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公式 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8-3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说明：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最近邻法的渐进错误率最坏不会超过两倍的贝叶斯错误率，而最好则有可能接近或达到贝叶斯错误率</a:t>
                </a:r>
                <a:endParaRPr lang="zh-CN" altLang="zh-CN" dirty="0">
                  <a:solidFill>
                    <a:srgbClr val="F506D3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  <a:blipFill>
                <a:blip r:embed="rId3"/>
                <a:stretch>
                  <a:fillRect l="-458" t="-1309" r="-2137" b="-3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8.2.1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最近邻法</a:t>
            </a:r>
            <a:endParaRPr lang="zh-CN" altLang="en-US" b="1" kern="0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F51549E7-30A8-FDC0-11E8-0E616D4B1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8250" y="3429000"/>
            <a:ext cx="4127500" cy="762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0E0C7A3-110A-5700-4DE3-3B61DEE3AFE0}"/>
              </a:ext>
            </a:extLst>
          </p:cNvPr>
          <p:cNvSpPr txBox="1"/>
          <p:nvPr/>
        </p:nvSpPr>
        <p:spPr>
          <a:xfrm>
            <a:off x="7751763" y="3576935"/>
            <a:ext cx="1316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(8-3)</a:t>
            </a:r>
            <a:endParaRPr lang="zh-CN" altLang="en-US" dirty="0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AA3A0F11-A247-438E-0814-FD371D151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3600" y="4953000"/>
            <a:ext cx="526819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最近邻法的不足之处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完全取决于一个最近邻，如果该邻居恰好是噪声或离群点，就会直接导致误判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近邻法的改进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引入</a:t>
                </a:r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投票机制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，选择前若⼲个离未知样本最近的已知样本，根据它们的类别投票决定新样本的类别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将参加投票的近邻样本个数记作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最近邻法可以看作是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近邻法的特例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  <a:blipFill>
                <a:blip r:embed="rId3"/>
                <a:stretch>
                  <a:fillRect l="-458" t="-1309" r="-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410767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D5CA5D4-C223-2026-EB60-CFAAE58686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"/>
          <a:stretch/>
        </p:blipFill>
        <p:spPr>
          <a:xfrm>
            <a:off x="2362200" y="1790700"/>
            <a:ext cx="5562600" cy="5067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454EEC1-392C-EBB7-FDD2-DB12578DBEE8}"/>
                  </a:ext>
                </a:extLst>
              </p:cNvPr>
              <p:cNvSpPr txBox="1"/>
              <p:nvPr/>
            </p:nvSpPr>
            <p:spPr>
              <a:xfrm>
                <a:off x="76200" y="3200400"/>
                <a:ext cx="251460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二分类问题中，通常将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设置为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奇数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，以避免两类出现得票相等的情况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454EEC1-392C-EBB7-FDD2-DB12578DB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200400"/>
                <a:ext cx="2514600" cy="1938992"/>
              </a:xfrm>
              <a:prstGeom prst="rect">
                <a:avLst/>
              </a:prstGeom>
              <a:blipFill>
                <a:blip r:embed="rId4"/>
                <a:stretch>
                  <a:fillRect l="-4020" t="-2614" b="-6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280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形式化定义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个已知样本分属于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个类别中</a:t>
                </a:r>
                <a:r>
                  <a:rPr lang="en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0" i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 </m:t>
                    </m:r>
                    <m:sSub>
                      <m:sSubPr>
                        <m:ctrlPr>
                          <a:rPr lang="zh-CN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,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=1, 2, …,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𝑐</m:t>
                    </m:r>
                  </m:oMath>
                </a14:m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考查新样本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在已知样本中的前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近邻，设其中有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个属于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类，则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类对应的判别函数为：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决策规则为：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  <a:blipFill>
                <a:blip r:embed="rId3"/>
                <a:stretch>
                  <a:fillRect l="-458" t="-1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4CFC4B02-C449-512D-B382-FDB0642BD4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3650" y="3886200"/>
            <a:ext cx="40767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7160B3D-B38E-A6F0-0CE4-D30F5706E132}"/>
              </a:ext>
            </a:extLst>
          </p:cNvPr>
          <p:cNvSpPr txBox="1"/>
          <p:nvPr/>
        </p:nvSpPr>
        <p:spPr>
          <a:xfrm>
            <a:off x="7751763" y="3805535"/>
            <a:ext cx="1316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(8-4)</a:t>
            </a:r>
            <a:endParaRPr lang="zh-CN" altLang="en-US" dirty="0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2FA41A6E-BA64-890E-9887-5994930419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81200" y="5147153"/>
            <a:ext cx="5181600" cy="56784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14A1A82-3ED7-C49D-E388-CF45D49F9B9E}"/>
              </a:ext>
            </a:extLst>
          </p:cNvPr>
          <p:cNvSpPr txBox="1"/>
          <p:nvPr/>
        </p:nvSpPr>
        <p:spPr>
          <a:xfrm>
            <a:off x="7751763" y="5100934"/>
            <a:ext cx="1316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(8-5)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117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20177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例题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0C46E0-CA58-5673-BC70-BE855C058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138" y="1758754"/>
            <a:ext cx="5579671" cy="509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7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20177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例题求解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227E95-6FF4-4613-8981-E44F82E7F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500188"/>
            <a:ext cx="5867400" cy="43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29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20177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例题求解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F82955-4F41-F55B-6FB2-C208899D1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721073"/>
            <a:ext cx="5257800" cy="512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09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渐近错误率理论分析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仍然满足公式 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8-3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的上下界关系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但随着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的增加，上界逐渐降低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趋于⽆穷⼤时，上界和下界相等，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近邻法达到了贝叶斯错误率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en-US" altLang="zh-CN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⚠️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虽然此时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可以趋于⽆穷⼤，但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与样本数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𝑁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相⽐仍然是可以忽略的⼀⼩部分</a:t>
                </a:r>
                <a:endParaRPr lang="en-US" altLang="zh-CN" sz="2400" dirty="0">
                  <a:solidFill>
                    <a:srgbClr val="FF0000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2017713"/>
                <a:ext cx="8304852" cy="4840287"/>
              </a:xfrm>
              <a:blipFill>
                <a:blip r:embed="rId3"/>
                <a:stretch>
                  <a:fillRect l="-458" t="-1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8795458B-EDEA-58E5-2567-63C350B29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8250" y="2971800"/>
            <a:ext cx="4127500" cy="762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14C09B-69F6-E459-7872-3FB5CE0E8378}"/>
              </a:ext>
            </a:extLst>
          </p:cNvPr>
          <p:cNvSpPr txBox="1"/>
          <p:nvPr/>
        </p:nvSpPr>
        <p:spPr>
          <a:xfrm>
            <a:off x="7751763" y="3119735"/>
            <a:ext cx="1316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(8-3)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208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20177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不足之处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当样本数⽬较多时才会取得好的性能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新样本需要与每⼀个样本计算距离并进行⽐较和排序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必须始终存储所有的已知样本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计算和存储成本较高</a:t>
            </a:r>
            <a:endParaRPr lang="en-US" altLang="zh-CN" sz="2400" dirty="0">
              <a:solidFill>
                <a:srgbClr val="FF0000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8.2.2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k-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49452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解决思路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采⽤</a:t>
            </a:r>
            <a:r>
              <a:rPr lang="zh-CN" altLang="en-US" sz="2400" dirty="0">
                <a:solidFill>
                  <a:srgbClr val="2D6DF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分枝定界算法</a:t>
            </a:r>
            <a:endParaRPr lang="en-US" altLang="zh-CN" sz="2400" dirty="0">
              <a:solidFill>
                <a:srgbClr val="2D6DFF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2" eaLnBrk="1" hangingPunct="1"/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将整个已知样本集分级划分成多个⼦集，形成⼀个</a:t>
            </a:r>
            <a:r>
              <a:rPr lang="zh-CN" altLang="en-US" dirty="0">
                <a:solidFill>
                  <a:srgbClr val="F506D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树</a:t>
            </a:r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状结构</a:t>
            </a:r>
            <a:endParaRPr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2" eaLnBrk="1" hangingPunct="1"/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每个节点是⼀个样本子集</a:t>
            </a:r>
            <a:endParaRPr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2" eaLnBrk="1" hangingPunct="1"/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每个子集⽤较少的⼏个量表示</a:t>
            </a:r>
            <a:endParaRPr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2" eaLnBrk="1" hangingPunct="1"/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将新样本按顺序与各个节点进⾏⽐较，排除不可能包含最近邻的样本子集 </a:t>
            </a:r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</a:t>
            </a:r>
            <a:r>
              <a:rPr lang="zh-CN" altLang="en-US" dirty="0">
                <a:solidFill>
                  <a:srgbClr val="F506D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粗粒度剪枝</a:t>
            </a:r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，判断每个节点是否可以直接跳过</a:t>
            </a:r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)</a:t>
            </a:r>
          </a:p>
          <a:p>
            <a:pPr lvl="2" eaLnBrk="1" hangingPunct="1"/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只在叶子节点上才需要与每个样本进⾏⽐较 </a:t>
            </a:r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</a:t>
            </a:r>
            <a:r>
              <a:rPr lang="zh-CN" altLang="en-US" dirty="0">
                <a:solidFill>
                  <a:srgbClr val="F506D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细粒度剪枝</a:t>
            </a:r>
            <a:r>
              <a:rPr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，判断该节点对应的样本子集中的某个样本是否可以直接跳过</a:t>
            </a:r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)</a:t>
            </a:r>
          </a:p>
          <a:p>
            <a:pPr lvl="2" eaLnBrk="1" hangingPunct="1"/>
            <a:endParaRPr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3599015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示意图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F3DD39-029B-6E28-7F38-B4E6C31A1E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4"/>
          <a:stretch/>
        </p:blipFill>
        <p:spPr>
          <a:xfrm>
            <a:off x="752593" y="2393248"/>
            <a:ext cx="7638813" cy="446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46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第一阶段：划分样本集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𝒳</m:t>
                    </m:r>
                  </m:oMath>
                </a14:m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，形成树结构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⚠️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首先讨论最近邻，再将其扩展到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近邻情况</a:t>
                </a:r>
                <a:endParaRPr lang="en-US" altLang="zh-CN" sz="2400" dirty="0">
                  <a:solidFill>
                    <a:srgbClr val="FF0000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将样本集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𝒳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分为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𝑙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个⼦集。每个⼦集再分成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𝑙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个⼦集，以此类推，构成树结构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树中第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𝑝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个节点的符号定义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节点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对应的样本⼦集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𝑁</m:t>
                        </m:r>
                      </m:e>
                      <m:sub>
                        <m:r>
                          <a:rPr lang="en-US" altLang="zh-CN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样本⼦集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中的样本</a:t>
                </a:r>
                <a:r>
                  <a:rPr lang="zh-CN" altLang="en-US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数目</a:t>
                </a:r>
                <a:endParaRPr lang="en-US" altLang="zh-CN" dirty="0">
                  <a:solidFill>
                    <a:srgbClr val="2D6DFF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𝑀</m:t>
                        </m:r>
                      </m:e>
                      <m:sub>
                        <m:r>
                          <a:rPr lang="en-US" altLang="zh-CN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样本⼦集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中的样本</a:t>
                </a:r>
                <a:r>
                  <a:rPr lang="zh-CN" altLang="en-US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均值</a:t>
                </a:r>
                <a:endParaRPr lang="en-US" altLang="zh-CN" dirty="0">
                  <a:solidFill>
                    <a:srgbClr val="2D6DFF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zh-CN" altLang="en-US">
                            <a:solidFill>
                              <a:srgbClr val="2D6DFF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  <m:r>
                      <a:rPr lang="zh-CN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zh-CN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𝒳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lim>
                    </m:limLow>
                    <m:r>
                      <a:rPr lang="zh-CN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 </m:t>
                    </m:r>
                    <m:r>
                      <a:rPr lang="zh-CN" altLang="en-US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zh-CN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zh-CN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:</m:t>
                    </m:r>
                  </m:oMath>
                </a14:m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𝑀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zh-CN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的</a:t>
                </a:r>
                <a:r>
                  <a:rPr lang="zh-CN" altLang="zh-CN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最大距离</a:t>
                </a:r>
              </a:p>
              <a:p>
                <a:pPr lvl="2" eaLnBrk="1" hangingPunct="1"/>
                <a:endParaRPr lang="en-US" altLang="zh-CN" dirty="0">
                  <a:solidFill>
                    <a:srgbClr val="2D6DFF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dirty="0">
                  <a:solidFill>
                    <a:srgbClr val="2D6DFF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3271646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第一阶段：划分样本集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𝒳</m:t>
                    </m:r>
                  </m:oMath>
                </a14:m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，形成树结构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144290-313E-4A27-AA87-83A678540A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"/>
          <a:stretch/>
        </p:blipFill>
        <p:spPr>
          <a:xfrm>
            <a:off x="1" y="2438400"/>
            <a:ext cx="9144000" cy="3276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3581FD-4636-AE24-08D7-598736928395}"/>
              </a:ext>
            </a:extLst>
          </p:cNvPr>
          <p:cNvSpPr txBox="1"/>
          <p:nvPr/>
        </p:nvSpPr>
        <p:spPr>
          <a:xfrm>
            <a:off x="0" y="5916083"/>
            <a:ext cx="8915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⚠️</a:t>
            </a:r>
            <a:r>
              <a:rPr lang="zh-CN" altLang="en-US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划分样本集可以使用教材中的聚类方法，例如 </a:t>
            </a:r>
            <a:r>
              <a:rPr lang="en-US" altLang="zh-CN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均值算法</a:t>
            </a:r>
          </a:p>
        </p:txBody>
      </p:sp>
    </p:spTree>
    <p:extLst>
      <p:ext uri="{BB962C8B-B14F-4D97-AF65-F5344CB8AC3E}">
        <p14:creationId xmlns:p14="http://schemas.microsoft.com/office/powerpoint/2010/main" val="1243486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为检验未知样本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的最近邻是否出现在第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𝑝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个节点对应的样本⼦集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中，定义如下两个规则：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是算法执⾏到目前为止，找到的已知样本到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的最近距离</a:t>
                </a:r>
                <a:endParaRPr lang="zh-CN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631563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的最近邻。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规则含义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：该规则用于</a:t>
                </a:r>
                <a:r>
                  <a:rPr lang="zh-CN" altLang="en-US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粗粒度剪枝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，判断第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个节点对应的样本子集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是否可以被完全排除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4177511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的最近邻。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几何意义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：即使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 b="0" i="0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 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中离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最近的样本 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(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位于球的边缘上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)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，其距离也至少是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</m:oMath>
                </a14:m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 r="-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E68CB7-DD39-E8DC-FA42-4C869CD875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70"/>
          <a:stretch/>
        </p:blipFill>
        <p:spPr>
          <a:xfrm>
            <a:off x="1425325" y="4191000"/>
            <a:ext cx="5353050" cy="2667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3BBB32-3AC7-D7B2-422E-F99BFD4D6A1C}"/>
                  </a:ext>
                </a:extLst>
              </p:cNvPr>
              <p:cNvSpPr txBox="1"/>
              <p:nvPr/>
            </p:nvSpPr>
            <p:spPr>
              <a:xfrm>
                <a:off x="6781800" y="4540737"/>
                <a:ext cx="2362200" cy="1967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意味着整个子集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 </m:t>
                        </m:r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中不可能存在比当前最近邻更近的点，因此可以安全地剪枝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3BBB32-3AC7-D7B2-422E-F99BFD4D6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4540737"/>
                <a:ext cx="2362200" cy="1967526"/>
              </a:xfrm>
              <a:prstGeom prst="rect">
                <a:avLst/>
              </a:prstGeom>
              <a:blipFill>
                <a:blip r:embed="rId5"/>
                <a:stretch>
                  <a:fillRect l="-4301" t="-2564" r="-2151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918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的最近邻。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证明过程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对于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，根据</a:t>
                </a:r>
                <a:r>
                  <a:rPr lang="zh-CN" altLang="en-US" sz="2400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三角不等式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由于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</a:t>
                </a:r>
                <a:r>
                  <a:rPr lang="zh-CN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为子集的半径：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endParaRPr lang="en-US" altLang="zh-CN" sz="5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代入上式：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A8ACBBD6-02ED-7D17-0509-65D686933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000" y="4267200"/>
            <a:ext cx="4733554" cy="32421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7E8C44CB-281D-A0F1-4DD1-9805B3F29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02087" y="5232971"/>
            <a:ext cx="2139826" cy="324216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9D3516D4-FDC3-9CF2-450F-2B05CF9234D4}"/>
              </a:ext>
            </a:extLst>
          </p:cNvPr>
          <p:cNvCxnSpPr/>
          <p:nvPr/>
        </p:nvCxnSpPr>
        <p:spPr>
          <a:xfrm>
            <a:off x="5943600" y="4648200"/>
            <a:ext cx="1380754" cy="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CEB63C5B-0925-1338-F725-4268115E652E}"/>
              </a:ext>
            </a:extLst>
          </p:cNvPr>
          <p:cNvCxnSpPr/>
          <p:nvPr/>
        </p:nvCxnSpPr>
        <p:spPr>
          <a:xfrm>
            <a:off x="3502087" y="5638800"/>
            <a:ext cx="1380754" cy="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形 12">
            <a:extLst>
              <a:ext uri="{FF2B5EF4-FFF2-40B4-BE49-F238E27FC236}">
                <a16:creationId xmlns:a16="http://schemas.microsoft.com/office/drawing/2014/main" id="{074FD3E4-6A1C-9BC1-6DE3-0E796E9B74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72673" y="6171342"/>
            <a:ext cx="3598653" cy="324203"/>
          </a:xfrm>
          <a:prstGeom prst="rect">
            <a:avLst/>
          </a:prstGeom>
        </p:spPr>
      </p:pic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28C77A6-A119-DE50-69CF-1B38D07FDE78}"/>
              </a:ext>
            </a:extLst>
          </p:cNvPr>
          <p:cNvCxnSpPr>
            <a:cxnSpLocks/>
          </p:cNvCxnSpPr>
          <p:nvPr/>
        </p:nvCxnSpPr>
        <p:spPr>
          <a:xfrm>
            <a:off x="6019800" y="6553200"/>
            <a:ext cx="351526" cy="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670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的最近邻。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证明过程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endParaRPr lang="en-US" altLang="zh-CN" sz="5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代入上式：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3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若规则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成立，则：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074FD3E4-6A1C-9BC1-6DE3-0E796E9B7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2673" y="4343400"/>
            <a:ext cx="3598653" cy="324203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25B5F2A9-F57B-FF45-4826-E94A2E7F1E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129" y="5390797"/>
            <a:ext cx="6613741" cy="324203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498B2AD0-178C-86CD-16C3-AF60B4DC85E1}"/>
              </a:ext>
            </a:extLst>
          </p:cNvPr>
          <p:cNvCxnSpPr>
            <a:cxnSpLocks/>
          </p:cNvCxnSpPr>
          <p:nvPr/>
        </p:nvCxnSpPr>
        <p:spPr>
          <a:xfrm>
            <a:off x="2895600" y="5751897"/>
            <a:ext cx="1219200" cy="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6745CAC-F581-425C-4A3B-400472457DB5}"/>
              </a:ext>
            </a:extLst>
          </p:cNvPr>
          <p:cNvCxnSpPr>
            <a:cxnSpLocks/>
          </p:cNvCxnSpPr>
          <p:nvPr/>
        </p:nvCxnSpPr>
        <p:spPr>
          <a:xfrm>
            <a:off x="5257800" y="5751897"/>
            <a:ext cx="1219200" cy="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108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为检验未知样本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的最近邻是否出现在第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𝑝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个节点对应的样本⼦集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中，定义如下两个规则：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的最近邻。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是在算法执⾏过程中，当前为止找到的已知样本到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的最近距离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如果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不是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zh-CN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 r="-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383524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如果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不是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规则含义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：该规则用于</a:t>
                </a:r>
                <a:r>
                  <a:rPr lang="zh-CN" altLang="en-US" sz="2400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细粒度剪枝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，判断第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𝑝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个节点对应的样本子集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内某个具体样本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是否可以被排除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 r="-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493674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4AF23C8-F41D-122F-362E-1DC279A435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6"/>
          <a:stretch/>
        </p:blipFill>
        <p:spPr>
          <a:xfrm>
            <a:off x="2590800" y="4112168"/>
            <a:ext cx="5334000" cy="2745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如果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不是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几何意义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：样本点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距离子集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不够远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(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无法通过规则 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整体剪枝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)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，但子集内离圆心近的个别样本仍然可以单独排除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4"/>
                <a:stretch>
                  <a:fillRect l="-458" t="-1305" r="-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050016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第二阶段：搜索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如果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不是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证明过程</a:t>
                </a:r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</a:t>
                </a:r>
                <a:endParaRPr lang="en-US" altLang="zh-CN" sz="20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同样利用三角不等式：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若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成立，则：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sz="32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因此</a:t>
                </a:r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样本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的距离必然大于当前最佳距离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</m:oMath>
                </a14:m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，可以</a:t>
                </a:r>
                <a:r>
                  <a:rPr lang="zh-CN" altLang="zh-CN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排除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作为最近邻的可能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 r="-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E0DF7725-0E52-33AB-E077-14DDBC17A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0800" y="4267200"/>
            <a:ext cx="4876800" cy="334027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9214F3A7-CF21-0ACA-CF83-5B633AD9B1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384" y="5268782"/>
            <a:ext cx="8649180" cy="288306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05756603-5D21-DC3C-5D24-0AA7659B263C}"/>
              </a:ext>
            </a:extLst>
          </p:cNvPr>
          <p:cNvCxnSpPr>
            <a:cxnSpLocks/>
          </p:cNvCxnSpPr>
          <p:nvPr/>
        </p:nvCxnSpPr>
        <p:spPr>
          <a:xfrm>
            <a:off x="1828800" y="5638800"/>
            <a:ext cx="1219200" cy="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501D73A0-9BAB-4106-88D0-0BBD263ADE19}"/>
              </a:ext>
            </a:extLst>
          </p:cNvPr>
          <p:cNvCxnSpPr>
            <a:cxnSpLocks/>
          </p:cNvCxnSpPr>
          <p:nvPr/>
        </p:nvCxnSpPr>
        <p:spPr>
          <a:xfrm>
            <a:off x="5029200" y="5638800"/>
            <a:ext cx="1828800" cy="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271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第二阶段：树搜索算法 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(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输入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查询样本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度量树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𝑇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)</a:t>
                </a: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 r="-24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395913-8D0C-8808-D965-A24D0D1AF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2431557"/>
            <a:ext cx="5105400" cy="442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35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第二阶段：树搜索算法示例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695CA1-A0C5-B697-A1C9-8BCA2896B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4" y="2362200"/>
            <a:ext cx="7772400" cy="33470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E34AAE-599C-A1F1-16AA-8F460CFD9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4" y="5952227"/>
            <a:ext cx="7772400" cy="90577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50B638F-D7DB-5865-D9B3-93FE768D2AE6}"/>
              </a:ext>
            </a:extLst>
          </p:cNvPr>
          <p:cNvSpPr txBox="1"/>
          <p:nvPr/>
        </p:nvSpPr>
        <p:spPr>
          <a:xfrm>
            <a:off x="210261" y="3066559"/>
            <a:ext cx="533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二叉度量树 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0E9B27-DFF4-F71E-D427-4B08223CE7A0}"/>
              </a:ext>
            </a:extLst>
          </p:cNvPr>
          <p:cNvSpPr txBox="1"/>
          <p:nvPr/>
        </p:nvSpPr>
        <p:spPr>
          <a:xfrm>
            <a:off x="-86081" y="5988903"/>
            <a:ext cx="1161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叶子节点样本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A09FB51-8026-2C17-65AC-A45CB4412F5D}"/>
                  </a:ext>
                </a:extLst>
              </p:cNvPr>
              <p:cNvSpPr txBox="1"/>
              <p:nvPr/>
            </p:nvSpPr>
            <p:spPr>
              <a:xfrm>
                <a:off x="6266739" y="1981200"/>
                <a:ext cx="287726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查询样本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=(4,3)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dirty="0">
                    <a:solidFill>
                      <a:srgbClr val="FF0000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找出该节点的最近邻点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A09FB51-8026-2C17-65AC-A45CB4412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739" y="1981200"/>
                <a:ext cx="2877261" cy="1200329"/>
              </a:xfrm>
              <a:prstGeom prst="rect">
                <a:avLst/>
              </a:prstGeom>
              <a:blipFill>
                <a:blip r:embed="rId5"/>
                <a:stretch>
                  <a:fillRect l="-3524" t="-4211" r="-4405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150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第二阶段：树搜索算法示例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482FCE-D1CF-F663-CAE2-D5EC21B014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124"/>
          <a:stretch/>
        </p:blipFill>
        <p:spPr>
          <a:xfrm>
            <a:off x="685800" y="2466110"/>
            <a:ext cx="7772400" cy="202969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DCF8833-EF78-2520-27E7-CA194342FA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54"/>
          <a:stretch/>
        </p:blipFill>
        <p:spPr>
          <a:xfrm>
            <a:off x="685800" y="4607136"/>
            <a:ext cx="7772400" cy="206332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ED7D164-2B41-1709-B7B9-54555715CE2A}"/>
              </a:ext>
            </a:extLst>
          </p:cNvPr>
          <p:cNvSpPr/>
          <p:nvPr/>
        </p:nvSpPr>
        <p:spPr>
          <a:xfrm>
            <a:off x="1150938" y="5791200"/>
            <a:ext cx="6850062" cy="990600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3548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第二阶段：树搜索算法示例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482FCE-D1CF-F663-CAE2-D5EC21B014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70"/>
          <a:stretch/>
        </p:blipFill>
        <p:spPr>
          <a:xfrm>
            <a:off x="685800" y="2438400"/>
            <a:ext cx="7772400" cy="2057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58C6B87-6A03-A372-E73F-0FBF9AA2BB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" t="2542"/>
          <a:stretch/>
        </p:blipFill>
        <p:spPr>
          <a:xfrm>
            <a:off x="2438400" y="4500282"/>
            <a:ext cx="4267200" cy="231475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C495715-798E-38D0-47AA-7C847A0AA528}"/>
              </a:ext>
            </a:extLst>
          </p:cNvPr>
          <p:cNvSpPr/>
          <p:nvPr/>
        </p:nvSpPr>
        <p:spPr>
          <a:xfrm>
            <a:off x="2438400" y="5943600"/>
            <a:ext cx="4267200" cy="871436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3379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第二阶段：树搜索算法示例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8C5F3D-914F-27F7-345A-CC114EB50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4" y="2514600"/>
            <a:ext cx="7772400" cy="166731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261123D-1C37-845F-DDDA-E4A88EE0F5D9}"/>
              </a:ext>
            </a:extLst>
          </p:cNvPr>
          <p:cNvSpPr txBox="1"/>
          <p:nvPr/>
        </p:nvSpPr>
        <p:spPr>
          <a:xfrm>
            <a:off x="3581400" y="432411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PingFang SC" panose="020B0400000000000000" pitchFamily="34" charset="-122"/>
                <a:ea typeface="PingFang SC" panose="020B0400000000000000" pitchFamily="34" charset="-122"/>
              </a:rPr>
              <a:t>叶节点更新 </a:t>
            </a:r>
            <a:r>
              <a:rPr lang="en-US" altLang="zh-CN" sz="2200" dirty="0">
                <a:latin typeface="PingFang SC" panose="020B0400000000000000" pitchFamily="34" charset="-122"/>
                <a:ea typeface="PingFang SC" panose="020B0400000000000000" pitchFamily="34" charset="-122"/>
              </a:rPr>
              <a:t>B!</a:t>
            </a:r>
            <a:endParaRPr lang="zh-CN" altLang="en-US" sz="2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9DB9AF-5CB2-C7B2-5C30-EB12EB2F8F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"/>
          <a:stretch/>
        </p:blipFill>
        <p:spPr>
          <a:xfrm>
            <a:off x="6045674" y="4324118"/>
            <a:ext cx="2603500" cy="243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7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第二阶段：树搜索算法示例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AD7132C-63AA-5D0F-A4CD-E992F6F8D2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842"/>
          <a:stretch/>
        </p:blipFill>
        <p:spPr>
          <a:xfrm>
            <a:off x="312095" y="2590800"/>
            <a:ext cx="8519809" cy="12038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F519D0-8DE6-7434-BDE8-A0BB527E28C1}"/>
                  </a:ext>
                </a:extLst>
              </p:cNvPr>
              <p:cNvSpPr txBox="1"/>
              <p:nvPr/>
            </p:nvSpPr>
            <p:spPr>
              <a:xfrm>
                <a:off x="-152400" y="3794672"/>
                <a:ext cx="8839200" cy="445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eaLnBrk="1" hangingPunct="1"/>
                <a:r>
                  <a:rPr lang="zh-CN" altLang="en-US" sz="20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0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en-US" altLang="zh-CN" sz="20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F519D0-8DE6-7434-BDE8-A0BB527E2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3794672"/>
                <a:ext cx="8839200" cy="445891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D58E80BB-7344-A179-B0D5-6CB176A89AC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"/>
          <a:stretch/>
        </p:blipFill>
        <p:spPr>
          <a:xfrm>
            <a:off x="3376568" y="4361656"/>
            <a:ext cx="2390861" cy="223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29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第二阶段：树搜索算法示例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AD7132C-63AA-5D0F-A4CD-E992F6F8D2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39"/>
          <a:stretch/>
        </p:blipFill>
        <p:spPr>
          <a:xfrm>
            <a:off x="312095" y="2590800"/>
            <a:ext cx="8519809" cy="23719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616818-BC3F-3163-BABE-4F9720C49752}"/>
                  </a:ext>
                </a:extLst>
              </p:cNvPr>
              <p:cNvSpPr txBox="1"/>
              <p:nvPr/>
            </p:nvSpPr>
            <p:spPr>
              <a:xfrm>
                <a:off x="-342426" y="5040509"/>
                <a:ext cx="10210800" cy="445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eaLnBrk="1" hangingPunct="1"/>
                <a:r>
                  <a:rPr lang="zh-CN" altLang="en-US" sz="20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0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en-US" altLang="zh-CN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如果</a:t>
                </a:r>
                <a:r>
                  <a:rPr lang="en-US" altLang="zh-CN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</m:oMath>
                </a14:m>
                <a:r>
                  <a:rPr lang="en-US" altLang="zh-CN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不是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en-US" altLang="zh-CN" sz="20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616818-BC3F-3163-BABE-4F9720C49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2426" y="5040509"/>
                <a:ext cx="10210800" cy="445891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089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第二阶段：树搜索算法示例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EDD7C6F-5186-3101-E209-99310D9D2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38" y="2370884"/>
            <a:ext cx="5791200" cy="1896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A8CC8C-1AB5-28DA-73DD-E4C9145B8F16}"/>
                  </a:ext>
                </a:extLst>
              </p:cNvPr>
              <p:cNvSpPr txBox="1"/>
              <p:nvPr/>
            </p:nvSpPr>
            <p:spPr>
              <a:xfrm>
                <a:off x="-304800" y="4267200"/>
                <a:ext cx="9525000" cy="481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eaLnBrk="1" hangingPunct="1"/>
                <a:r>
                  <a:rPr lang="zh-CN" altLang="en-US" sz="22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 </a:t>
                </a:r>
                <a:r>
                  <a:rPr lang="en-US" altLang="zh-CN" sz="22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en-US" altLang="zh-CN" sz="22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</a:t>
                </a:r>
                <a:r>
                  <a:rPr lang="zh-CN" altLang="en-US" sz="22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如果存在 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𝐷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d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  <a:ea typeface="PingFang SC" panose="020B0400000000000000" pitchFamily="34" charset="-122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&gt;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𝐵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+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2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不可能是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2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的最近邻</a:t>
                </a:r>
                <a:endParaRPr lang="en-US" altLang="zh-CN" sz="22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A8CC8C-1AB5-28DA-73DD-E4C9145B8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800" y="4267200"/>
                <a:ext cx="9525000" cy="481286"/>
              </a:xfrm>
              <a:prstGeom prst="rect">
                <a:avLst/>
              </a:prstGeom>
              <a:blipFill>
                <a:blip r:embed="rId4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63646B96-FDF6-F034-F8F7-518F2CA4D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748486"/>
            <a:ext cx="3886200" cy="209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17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扩展到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2B58C8-DC6E-7DED-F00D-E6EC25D9C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799" y="990600"/>
            <a:ext cx="5391871" cy="5867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88BC87D-1F17-CEF0-D0D7-FBEC646C31EA}"/>
                  </a:ext>
                </a:extLst>
              </p:cNvPr>
              <p:cNvSpPr txBox="1"/>
              <p:nvPr/>
            </p:nvSpPr>
            <p:spPr>
              <a:xfrm>
                <a:off x="-14591" y="3022828"/>
                <a:ext cx="374839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输入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查询样本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度量树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𝑇</m:t>
                    </m:r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近邻数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𝐾</m:t>
                    </m:r>
                  </m:oMath>
                </a14:m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最大堆 </a:t>
                </a:r>
                <a:r>
                  <a:rPr lang="en" altLang="zh-CN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L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堆顶始终是第 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𝐾</m:t>
                    </m:r>
                  </m:oMath>
                </a14:m>
                <a:r>
                  <a:rPr lang="e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个候选 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(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所有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𝐾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个近邻中距离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最远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B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: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第 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𝐾</m:t>
                    </m:r>
                  </m:oMath>
                </a14:m>
                <a:r>
                  <a:rPr lang="e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近邻的距离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(L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中的最大距离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)</a:t>
                </a:r>
                <a:endParaRPr lang="zh-CN" altLang="en-US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88BC87D-1F17-CEF0-D0D7-FBEC646C3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91" y="3022828"/>
                <a:ext cx="3748390" cy="2677656"/>
              </a:xfrm>
              <a:prstGeom prst="rect">
                <a:avLst/>
              </a:prstGeom>
              <a:blipFill>
                <a:blip r:embed="rId5"/>
                <a:stretch>
                  <a:fillRect l="-2373" t="-1896" r="-5085" b="-4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57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扩展到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近邻法例题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—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：子树剪枝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156D9B-F64A-A981-EB55-AAEF1A6D3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4" y="2377023"/>
            <a:ext cx="8304852" cy="448097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AA1B74F-8BDE-BC64-BCB6-4767AC39C904}"/>
              </a:ext>
            </a:extLst>
          </p:cNvPr>
          <p:cNvSpPr txBox="1"/>
          <p:nvPr/>
        </p:nvSpPr>
        <p:spPr>
          <a:xfrm>
            <a:off x="5515200" y="3240000"/>
            <a:ext cx="144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PingFang SC" panose="020B0400000000000000" pitchFamily="34" charset="-122"/>
                <a:ea typeface="PingFang SC" panose="020B0400000000000000" pitchFamily="34" charset="-122"/>
              </a:rPr>
              <a:t>欧式</a:t>
            </a:r>
          </a:p>
        </p:txBody>
      </p:sp>
    </p:spTree>
    <p:extLst>
      <p:ext uri="{BB962C8B-B14F-4D97-AF65-F5344CB8AC3E}">
        <p14:creationId xmlns:p14="http://schemas.microsoft.com/office/powerpoint/2010/main" val="38258233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扩展到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近邻法例题解答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—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：子树剪枝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2F08C4-1985-86AB-AAF1-52EB23685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7" y="2743200"/>
            <a:ext cx="9068995" cy="16764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DD17040-89B1-2704-5CB4-CB7ED659F18A}"/>
              </a:ext>
            </a:extLst>
          </p:cNvPr>
          <p:cNvSpPr/>
          <p:nvPr/>
        </p:nvSpPr>
        <p:spPr>
          <a:xfrm>
            <a:off x="4038600" y="2667000"/>
            <a:ext cx="1143000" cy="381000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24955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扩展到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近邻法例题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—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：样本级剪枝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FAEDA9-3A97-54A3-F1CC-B0D5F35BE5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27"/>
          <a:stretch/>
        </p:blipFill>
        <p:spPr>
          <a:xfrm>
            <a:off x="152400" y="2590801"/>
            <a:ext cx="8839200" cy="19812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355515A-603C-66E6-784B-5F85A1997DEA}"/>
              </a:ext>
            </a:extLst>
          </p:cNvPr>
          <p:cNvSpPr txBox="1"/>
          <p:nvPr/>
        </p:nvSpPr>
        <p:spPr>
          <a:xfrm>
            <a:off x="880743" y="5020071"/>
            <a:ext cx="8304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判断每个样本是否可以跳过？是否需要更新近邻列表？</a:t>
            </a:r>
          </a:p>
        </p:txBody>
      </p:sp>
    </p:spTree>
    <p:extLst>
      <p:ext uri="{BB962C8B-B14F-4D97-AF65-F5344CB8AC3E}">
        <p14:creationId xmlns:p14="http://schemas.microsoft.com/office/powerpoint/2010/main" val="34017563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扩展到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近邻法例题解答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—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规则</a:t>
                </a:r>
                <a:r>
                  <a:rPr lang="en-US" altLang="zh-CN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：样本级剪枝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eaLnBrk="1" hangingPunct="1"/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8.2.3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近邻法的快速算法</a:t>
            </a:r>
            <a:endParaRPr lang="zh-CN" altLang="en-US" b="1" kern="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6F0D235-1E9B-9486-6682-2051BDD872C2}"/>
              </a:ext>
            </a:extLst>
          </p:cNvPr>
          <p:cNvGrpSpPr/>
          <p:nvPr/>
        </p:nvGrpSpPr>
        <p:grpSpPr>
          <a:xfrm>
            <a:off x="1691718" y="2394861"/>
            <a:ext cx="5760564" cy="4463139"/>
            <a:chOff x="1691718" y="2394861"/>
            <a:chExt cx="5760564" cy="446313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CB2397E-A42E-809D-3A66-635B25D5E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1718" y="2394861"/>
              <a:ext cx="5760564" cy="4463139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EA9BA0E-5FFA-7DD3-ED72-61B32AA96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0" y="6616700"/>
              <a:ext cx="1790700" cy="24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31872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基本思想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当两类数据的分布存在⼀定重叠时，样本不能完全可分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将重叠部分的已知样本去掉，决策时不再受到错分样本影响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使近邻法的决策⾯更接近最优分类⾯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31192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示意图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原始训练集存在重叠区域，导致错分类情况出现</a:t>
            </a:r>
            <a:endParaRPr lang="en-US" altLang="zh-CN" sz="36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5B6E34-A648-9218-38D0-77327C56A3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"/>
          <a:stretch/>
        </p:blipFill>
        <p:spPr>
          <a:xfrm>
            <a:off x="190974" y="2951317"/>
            <a:ext cx="8762052" cy="3827240"/>
          </a:xfrm>
          <a:prstGeom prst="rect">
            <a:avLst/>
          </a:prstGeom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D2E0AA83-D8B2-A698-6840-1EE618245042}"/>
              </a:ext>
            </a:extLst>
          </p:cNvPr>
          <p:cNvCxnSpPr>
            <a:cxnSpLocks/>
          </p:cNvCxnSpPr>
          <p:nvPr/>
        </p:nvCxnSpPr>
        <p:spPr>
          <a:xfrm>
            <a:off x="4495800" y="2951317"/>
            <a:ext cx="0" cy="3449483"/>
          </a:xfrm>
          <a:prstGeom prst="line">
            <a:avLst/>
          </a:prstGeom>
          <a:ln w="76200">
            <a:solidFill>
              <a:srgbClr val="F506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638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示意图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去除重叠部分的已知样本，使近邻法的决策⾯更接近最优分类⾯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endParaRPr lang="en-US" altLang="zh-CN" sz="36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D02F0B-75D9-AAEF-D6B4-5DC512413B87}"/>
              </a:ext>
            </a:extLst>
          </p:cNvPr>
          <p:cNvGrpSpPr/>
          <p:nvPr/>
        </p:nvGrpSpPr>
        <p:grpSpPr>
          <a:xfrm>
            <a:off x="876774" y="3352800"/>
            <a:ext cx="7772400" cy="2921189"/>
            <a:chOff x="876774" y="3429000"/>
            <a:chExt cx="7772400" cy="292118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2743309-0ECF-6258-995C-558C44B495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910"/>
            <a:stretch/>
          </p:blipFill>
          <p:spPr>
            <a:xfrm>
              <a:off x="876774" y="3429000"/>
              <a:ext cx="7772400" cy="2921189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1E2E6BE-52D2-9B8D-3C3F-573884E02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4725" y="5486400"/>
              <a:ext cx="2522875" cy="4699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7E200E8-46F1-BA71-4E60-2B3CDE495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1536" y="5639645"/>
              <a:ext cx="2522875" cy="46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27223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具体流程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把已知样本集分成两部分：训练集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NR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和测试集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T</m:t>
                        </m:r>
                      </m:sup>
                    </m:sSup>
                  </m:oMath>
                </a14:m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利用训练集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NR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对测试集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NT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中的每个样本进行近邻法分类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NT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中去除错误分类的样本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剩余样本构成剪辑样本集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NT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E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利用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NT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E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对未知样本进⾏近邻法分类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003655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错误率理论分析</a:t>
                </a:r>
                <a:endParaRPr lang="zh-CN" altLang="en-US" sz="2000" dirty="0"/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在剪辑阶段使⽤</a:t>
                </a:r>
                <a:r>
                  <a:rPr lang="zh-CN" altLang="en-US" sz="2400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最近邻法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，在分类阶段也使⽤</a:t>
                </a:r>
                <a:r>
                  <a:rPr lang="zh-CN" altLang="en-US" sz="2400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最近邻法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，则对于任意样本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，剪辑近邻法得到的渐近错误率与近邻法错误率的关系：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其中，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𝑃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𝑒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∣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是最近邻法的错误率，</a:t>
                </a:r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Sup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𝐸</m:t>
                        </m:r>
                      </m:sup>
                    </m:sSubSup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𝑒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∣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)</m:t>
                    </m:r>
                  </m:oMath>
                </a14:m>
                <a:r>
                  <a:rPr lang="zh-C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是剪辑近邻法的错误率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由公式 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8-3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可知，最近邻法的渐近错误率上界是</a:t>
                </a:r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两倍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的贝叶斯错误率。如果最近邻法的错误率不⼤，</a:t>
                </a:r>
                <a:r>
                  <a:rPr lang="zh-CN" altLang="en-US" sz="2400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剪辑近邻法的渐近错误率近似等于贝叶斯错误率</a:t>
                </a:r>
                <a:endParaRPr lang="en-US" altLang="zh-CN" sz="2400" dirty="0">
                  <a:solidFill>
                    <a:srgbClr val="F506D3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 r="-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7CCBB753-2B74-7EF9-3063-4A2722874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5250" y="3657600"/>
            <a:ext cx="3873500" cy="762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90874E-F960-31A5-14CB-22A385F1B2AD}"/>
              </a:ext>
            </a:extLst>
          </p:cNvPr>
          <p:cNvSpPr txBox="1"/>
          <p:nvPr/>
        </p:nvSpPr>
        <p:spPr>
          <a:xfrm>
            <a:off x="7751763" y="3733800"/>
            <a:ext cx="1316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(8-8)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7580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错误率理论分析</a:t>
                </a:r>
                <a:endParaRPr lang="zh-CN" altLang="en-US" sz="2000" dirty="0"/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在剪辑阶段使⽤ 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solidFill>
                          <a:srgbClr val="2D6DFF"/>
                        </a:solidFill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</m:oMath>
                </a14:m>
                <a:r>
                  <a:rPr lang="en-US" altLang="zh-CN" sz="2400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-</a:t>
                </a:r>
                <a:r>
                  <a:rPr lang="zh-CN" altLang="en-US" sz="2400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近邻法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，在分类阶段使⽤</a:t>
                </a:r>
                <a:r>
                  <a:rPr lang="zh-CN" altLang="en-US" sz="2400" dirty="0">
                    <a:solidFill>
                      <a:srgbClr val="2D6DFF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最近邻法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，则当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 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𝑁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→∞,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→∞</m:t>
                    </m:r>
                  </m:oMath>
                </a14:m>
                <a:r>
                  <a:rPr lang="zh-CN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但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𝑘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/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𝑁</m:t>
                    </m:r>
                    <m:r>
                      <a:rPr lang="zh-CN" altLang="zh-CN" sz="240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→0</m:t>
                    </m:r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时，剪辑近邻法的渐近错误率收敛于贝叶斯错误率</a:t>
                </a:r>
                <a:endParaRPr lang="zh-CN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044" r="-4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6813873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多重剪辑方法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目的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消除测试集、训练集划分中的偶然性造成的影响</a:t>
                </a:r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流程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1.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划分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。把样本集随机划分为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𝑠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个⼦集</a:t>
                </a:r>
                <a:r>
                  <a:rPr lang="zh-CN" altLang="en-US" dirty="0">
                    <a:ea typeface="PingFang SC" panose="020B0400000000000000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,</m:t>
                    </m:r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…</a:t>
                </a:r>
                <a:r>
                  <a:rPr lang="en-US" altLang="zh-CN" dirty="0"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</m:oMath>
                </a14:m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2. 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分类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。利⽤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中的样本分类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=1, …,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𝑠</m:t>
                    </m:r>
                  </m:oMath>
                </a14:m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(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PingFang SC" panose="020B0400000000000000" pitchFamily="34" charset="-122"/>
                      </a:rPr>
                      <m:t>=3</m:t>
                    </m:r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，则用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分类，用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分类，用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分类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)</a:t>
                </a:r>
              </a:p>
              <a:p>
                <a:pPr lvl="2" eaLnBrk="1" hangingPunct="1"/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3.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剪辑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。从各个⼦集中去掉在步骤 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2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中被分错的样本</a:t>
                </a: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 r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1617450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多重剪辑方法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流程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4.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混合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。把剩下的样本合在⼀起，形成新的样本集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E</m:t>
                        </m:r>
                      </m:sup>
                    </m:sSup>
                  </m:oMath>
                </a14:m>
                <a:endParaRPr lang="en-US" altLang="zh-CN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2" eaLnBrk="1" hangingPunct="1"/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5.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迭代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。⽤新的样本集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E</m:t>
                        </m:r>
                      </m:sup>
                    </m:sSup>
                  </m:oMath>
                </a14:m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替代原样本集，重复步骤 </a:t>
                </a:r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1</a:t>
                </a:r>
              </a:p>
              <a:p>
                <a:pPr lvl="2" eaLnBrk="1" hangingPunct="1"/>
                <a:r>
                  <a:rPr lang="en-US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6.</a:t>
                </a:r>
                <a:r>
                  <a:rPr lang="zh-CN" altLang="en-US" dirty="0">
                    <a:solidFill>
                      <a:srgbClr val="F506D3"/>
                    </a:solidFill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结束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。若最近的 </a:t>
                </a:r>
                <a:r>
                  <a:rPr lang="en" altLang="zh-CN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m</a:t>
                </a:r>
                <a:r>
                  <a:rPr lang="zh-CN" altLang="en-US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次迭代中都没有样本被剪掉，则终⽌迭代</a:t>
                </a: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304852" cy="4840287"/>
              </a:xfrm>
              <a:blipFill>
                <a:blip r:embed="rId3"/>
                <a:stretch>
                  <a:fillRect l="-458" t="-1305" r="-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3292822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多重剪辑方法示意图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3291397-4B86-04AE-5B01-83E0BC29D2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0"/>
          <a:stretch/>
        </p:blipFill>
        <p:spPr>
          <a:xfrm>
            <a:off x="571500" y="1752600"/>
            <a:ext cx="8001000" cy="507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071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多重剪辑方法示意图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左图：原始数据集下的最近邻方法决策边界十分不规则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右图：剪辑数据集后得到的决策边界变得平滑，逐渐接近贝叶斯最优分类面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8.2.4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剪辑近邻法</a:t>
            </a:r>
            <a:endParaRPr lang="zh-CN" altLang="en-US" b="1" kern="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B165E8D-129B-CEAF-B84B-E816A6574F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2" r="70588" b="1"/>
          <a:stretch/>
        </p:blipFill>
        <p:spPr>
          <a:xfrm>
            <a:off x="1150938" y="3657600"/>
            <a:ext cx="3200400" cy="32070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0C5DF6C-1986-6E34-F08E-87997ADE2B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55" t="15125" r="333" b="538"/>
          <a:stretch/>
        </p:blipFill>
        <p:spPr>
          <a:xfrm>
            <a:off x="4891728" y="3657600"/>
            <a:ext cx="3200401" cy="320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766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548" y="1941513"/>
            <a:ext cx="8304852" cy="48402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基本思想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对于近邻法，远离分类边界的样本对于最后的分类决策没有贡献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找出各类样本中最有利于⽤来与其它类别区分的</a:t>
            </a:r>
            <a:r>
              <a:rPr lang="zh-CN" altLang="en-US" sz="2400" dirty="0">
                <a:solidFill>
                  <a:srgbClr val="F506D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代表性样本</a:t>
            </a:r>
            <a:endParaRPr lang="en-US" altLang="zh-CN" sz="2400" dirty="0">
              <a:solidFill>
                <a:srgbClr val="F506D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zh-CN" altLang="en-US" sz="2800" dirty="0">
                <a:latin typeface="PingFang SC" panose="020B0400000000000000" pitchFamily="34" charset="-122"/>
                <a:ea typeface="PingFang SC" panose="020B0400000000000000" pitchFamily="34" charset="-122"/>
              </a:rPr>
              <a:t>优点</a:t>
            </a:r>
            <a:endParaRPr lang="en-US" altLang="zh-CN" sz="28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eaLnBrk="1" hangingPunct="1"/>
            <a:r>
              <a:rPr lang="zh-CN" altLang="en-US" sz="2400" dirty="0">
                <a:latin typeface="PingFang SC" panose="020B0400000000000000" pitchFamily="34" charset="-122"/>
                <a:ea typeface="PingFang SC" panose="020B0400000000000000" pitchFamily="34" charset="-122"/>
              </a:rPr>
              <a:t>在不牺牲分类准确度的前提下，大幅压缩近邻法决策时的训练样本数⽬</a:t>
            </a:r>
            <a:endParaRPr lang="en-US" altLang="zh-CN" sz="24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8.2.5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压缩近邻法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9674542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0548" y="1941513"/>
                <a:ext cx="8457252" cy="4840287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具体做法</a:t>
                </a:r>
                <a:endParaRPr lang="en-US" altLang="zh-CN" sz="28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将整个样本集划分为储存集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和备选集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算法开始时，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中只有⼀个样本，其余样本均在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考查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每⼀个样本 </a:t>
                </a:r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x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， 若⽤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的样本能够对它正确分类，则该样本保留在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中；否则移到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</a:t>
                </a:r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中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依次类推，直到没有样本再需要搬移为⽌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  <a:p>
                <a:pPr lvl="1" eaLnBrk="1" hangingPunct="1"/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最后⽤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𝒳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PingFang SC" panose="020B0400000000000000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PingFang SC" panose="020B0400000000000000" pitchFamily="34" charset="-122"/>
                    <a:ea typeface="PingFang SC" panose="020B0400000000000000" pitchFamily="34" charset="-122"/>
                  </a:rPr>
                  <a:t> 中的样本作为代表样本，对未来样本进⾏近邻法分类</a:t>
                </a:r>
                <a:endParaRPr lang="en-US" altLang="zh-CN" sz="2400" dirty="0"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0548" y="1941513"/>
                <a:ext cx="8457252" cy="4840287"/>
              </a:xfrm>
              <a:blipFill>
                <a:blip r:embed="rId3"/>
                <a:stretch>
                  <a:fillRect l="-450" t="-1305" r="-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4BAD63-36D5-E8EF-527E-8B90C2D38976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381000"/>
            <a:ext cx="776446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b="1" kern="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eaLnBrk="1" hangingPunct="1"/>
            <a:r>
              <a:rPr lang="en-US" altLang="zh-CN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8.2.5</a:t>
            </a:r>
            <a:r>
              <a:rPr lang="zh-CN" altLang="en-US" b="1" kern="0" dirty="0">
                <a:latin typeface="PingFang SC" panose="020B0400000000000000" pitchFamily="34" charset="-122"/>
                <a:ea typeface="PingFang SC" panose="020B0400000000000000" pitchFamily="34" charset="-122"/>
              </a:rPr>
              <a:t> 压缩近邻法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784319371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25051</TotalTime>
  <Words>2983</Words>
  <Application>Microsoft Macintosh PowerPoint</Application>
  <PresentationFormat>全屏显示(4:3)</PresentationFormat>
  <Paragraphs>380</Paragraphs>
  <Slides>54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4" baseType="lpstr">
      <vt:lpstr>-apple-system</vt:lpstr>
      <vt:lpstr>华文行楷</vt:lpstr>
      <vt:lpstr>PingFang SC</vt:lpstr>
      <vt:lpstr>Arial</vt:lpstr>
      <vt:lpstr>Calibri</vt:lpstr>
      <vt:lpstr>Cambria Math</vt:lpstr>
      <vt:lpstr>Tahoma</vt:lpstr>
      <vt:lpstr>Times New Roman</vt:lpstr>
      <vt:lpstr>Wingdings</vt:lpstr>
      <vt:lpstr>Blends</vt:lpstr>
      <vt:lpstr>第八章 非参数学习机器与集成学习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Microsoft Office User</cp:lastModifiedBy>
  <cp:revision>4562</cp:revision>
  <cp:lastPrinted>1601-01-01T00:00:00Z</cp:lastPrinted>
  <dcterms:created xsi:type="dcterms:W3CDTF">1601-01-01T00:00:00Z</dcterms:created>
  <dcterms:modified xsi:type="dcterms:W3CDTF">2026-03-30T12:30:45Z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